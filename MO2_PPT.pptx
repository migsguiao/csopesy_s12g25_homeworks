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3"/>
  </p:notesMasterIdLst>
  <p:sldIdLst>
    <p:sldId id="256" r:id="rId5"/>
    <p:sldId id="288" r:id="rId6"/>
    <p:sldId id="302" r:id="rId7"/>
    <p:sldId id="306" r:id="rId8"/>
    <p:sldId id="292" r:id="rId9"/>
    <p:sldId id="293" r:id="rId10"/>
    <p:sldId id="291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5" r:id="rId19"/>
    <p:sldId id="308" r:id="rId20"/>
    <p:sldId id="304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CE9D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E5670E-D68B-B626-1B83-C06C5D5950FE}" v="9" dt="2024-11-29T13:45:09.429"/>
    <p1510:client id="{973D0E54-00AD-4E53-8B69-DDEF35D29174}" v="582" dt="2024-11-29T13:08:16.445"/>
    <p1510:client id="{BBAEBEF1-351B-1F22-248F-340725C94BAB}" v="2396" dt="2024-11-29T13:36:03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97214-C04B-4145-89E7-5465B63A78F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E8492-2C95-46AF-81CD-79BF6D25C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5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D844-76D4-2E17-DC7F-F47CB5729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E0CAA-C2A4-59B3-CE8C-1F32DEFAA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C943B-7576-6F09-2DA3-EB182716E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44F7-9AF8-4C29-958F-A3DCB0D34872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A5808-C4A3-A245-D1EB-C17CC3E8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E104A-0367-5D2B-B84A-A1ADD12B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51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927E-3824-05E3-14C9-B0768E99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02C47-9F23-9F84-F3D8-720237AA3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D4D4A-A50B-FCC6-4229-1CFB8D78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6E57-CD8E-46F0-9AB0-854E5DCD81C2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2D681-03E9-F580-7AA8-17DEE21A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89F99-9796-830E-E25D-EC205674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6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E951-4066-B383-9C1B-6F854B1AD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E7BD5-FF88-ECEE-8C65-F3C5A9461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1E5C-7F17-A036-5364-37EA30BF1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42C5-7E8D-4A66-BCE9-3580C16F285B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5EF6D-6AFC-3C78-5719-E3C95682E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9F2FC-1050-B0C6-4ECF-5526166C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362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B513-2E93-C9C2-CB1F-03B48756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F1EAE-E067-9C4A-52AA-016B8CCCC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DB54D-DE7A-AADD-C8CE-5D028D9FB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A0F5E-635E-4439-5171-27C69086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12114-6EC9-49AD-880C-B4E788D8319D}" type="datetime1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25502-B675-1CCE-30B8-2554650C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C2B59-9D23-3249-60F3-9EE2D51F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6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5CFCF-BDB2-BA13-8E74-A49BA95D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BAFA1-A69F-0A88-EB29-9F9AE892C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F660C-7218-D6EE-BEF9-7097E1685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07EF4-9E38-D1F3-2A5F-5B7E5ADA6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C24DAE-5C68-16BE-FD52-71C62954C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795535-266F-0A5F-0E56-2FED38F37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438F-2F1E-47EB-BDA5-081647085AC4}" type="datetime1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6B7C6-9898-D656-3902-6FBE9A05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F9C34-6767-3877-7E7C-660F32E1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4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C4B9A-775C-C38A-A85A-4305B590C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E99750-BCCC-DA18-0AF0-2F9F557ED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54CCF-0F7B-4B3F-8088-CDF40CB5A63E}" type="datetime1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5E01E-6367-96F2-4E6F-2C5AAE384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7A8B9-F6C5-359B-EF1D-109AF567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6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498C5-8C75-82C8-276B-7E99B93F2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A6BCF-E9D0-4D55-B430-5C682BBC7F3D}" type="datetime1">
              <a:rPr lang="en-US" smtClean="0"/>
              <a:t>11/29/2024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5A6EB-49BD-046A-4B9D-B17E5DEA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3A76B-904B-D822-0A4B-F10EA8EBA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2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8E0B-1060-227F-6628-D495A1D65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7D1A2-9397-6DC0-FB4E-72D5F9F94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8C8B-B23D-4BD6-4A9E-FF48C778E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9E4B3-140A-D8B3-CC2B-1CB49B61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BEE7-77D6-4126-BB4A-53D928127B80}" type="datetime1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41928-0D3A-496D-14F2-FFDC8E39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566AD-DFF7-6400-2C68-A1F156FD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2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1CFF-E3D6-08B9-DAED-C997CB4C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A4CFA-D43E-2A09-6D64-FC69D326F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FF5B8-A2D8-D8AE-3931-6A5F6B560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E62DF-2523-BC5B-EA37-2B0C07C7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E11CF-92C7-4AEB-98E5-4F5BECF0A3FA}" type="datetime1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4007B-E3E1-8E15-C012-93AB248E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C3D73-6606-BDC6-B14A-6F7D3ABC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1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AA3B3-BBA2-CD51-E62C-2B44FED21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BBCEE-5036-902E-3164-D821709F1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D62BA-5DD5-1B14-6A66-AE7F96C9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2BF-B7BD-4114-8630-F9D8B35DB704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17767-C801-E0E2-DE90-5E87A242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44F61-C490-80A8-6939-13BF5B3A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6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39AB7B-DF49-5844-204E-293E203A1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FC84D1-1F66-3258-742B-A937DC93B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2158B-7F72-4484-F0CB-DE9D0C1E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9192-7D80-4AD4-9324-AA8E0EBE5E17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F021A-4FD8-B3E1-6390-8820A49B4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ED5BB-BD32-4F64-E83E-9B4F2445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2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F6035-3446-84EE-86F9-CB7A6ED69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C14D7-490D-8C98-301F-A850AA3F3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3CA0E-CFFB-DC56-8562-209A428ED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3951-0A81-4122-8014-417C1FAB20A7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D64E0-7747-C8DD-3350-3D0BE796B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5BAD7-4DE0-8DAF-2B8C-021CF961F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49"/>
            <a:ext cx="2180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8353E9-309E-4D7F-BA19-68ED15C1CF2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5733" y="6176961"/>
            <a:ext cx="590533" cy="59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97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81234"/>
            <a:ext cx="10058400" cy="1189610"/>
          </a:xfrm>
        </p:spPr>
        <p:txBody>
          <a:bodyPr>
            <a:noAutofit/>
          </a:bodyPr>
          <a:lstStyle/>
          <a:p>
            <a:r>
              <a:rPr lang="en-US" sz="4900" b="1"/>
              <a:t>CSOPSEY MO2</a:t>
            </a:r>
            <a:endParaRPr lang="en-US" sz="49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5270588"/>
            <a:ext cx="10058400" cy="1143000"/>
          </a:xfrm>
        </p:spPr>
        <p:txBody>
          <a:bodyPr/>
          <a:lstStyle/>
          <a:p>
            <a:r>
              <a:rPr lang="en-US" err="1"/>
              <a:t>Andreo</a:t>
            </a:r>
            <a:r>
              <a:rPr lang="en-US"/>
              <a:t> </a:t>
            </a:r>
            <a:r>
              <a:rPr lang="en-US" err="1"/>
              <a:t>Canilao</a:t>
            </a:r>
            <a:r>
              <a:rPr lang="en-US"/>
              <a:t>, Bryle </a:t>
            </a:r>
            <a:r>
              <a:rPr lang="en-US" err="1"/>
              <a:t>Magura</a:t>
            </a:r>
            <a:r>
              <a:rPr lang="en-US"/>
              <a:t>, Migs </a:t>
            </a:r>
            <a:r>
              <a:rPr lang="en-US" err="1"/>
              <a:t>Guiao</a:t>
            </a:r>
            <a:r>
              <a:rPr lang="en-US"/>
              <a:t>, Ralph Garcia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5D84B8-5341-4045-90F7-0378F7D789DE}"/>
              </a:ext>
            </a:extLst>
          </p:cNvPr>
          <p:cNvSpPr txBox="1">
            <a:spLocks/>
          </p:cNvSpPr>
          <p:nvPr/>
        </p:nvSpPr>
        <p:spPr>
          <a:xfrm>
            <a:off x="1097280" y="2942948"/>
            <a:ext cx="10058400" cy="13555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/>
              <a:t>Multi-tasking 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8E510-74E9-90F0-F9E9-041A211D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6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AFE88-3BB3-4A37-8738-A7A760A9234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Command Recognition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0A3B5E-0D88-40D3-ADEE-967AB121DC8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8" y="868362"/>
            <a:ext cx="6154215" cy="5365169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</a:t>
            </a:r>
            <a:r>
              <a:rPr lang="en-US" sz="2400" err="1"/>
              <a:t>CliLayout</a:t>
            </a:r>
            <a:r>
              <a:rPr lang="en-US" sz="2400"/>
              <a:t> class handles in getting command inputs from the user through the </a:t>
            </a:r>
            <a:r>
              <a:rPr lang="en-US" sz="2400" err="1"/>
              <a:t>getline</a:t>
            </a:r>
            <a:r>
              <a:rPr lang="en-US" sz="2400"/>
              <a:t> function of the std namespace.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</a:t>
            </a:r>
            <a:r>
              <a:rPr lang="en-US" sz="2400" err="1"/>
              <a:t>mainScreen</a:t>
            </a:r>
            <a:r>
              <a:rPr lang="en-US" sz="2400"/>
              <a:t> method displays the ascii-text header and acts as the main menu of the program where it will ask the user for a command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</a:t>
            </a:r>
            <a:r>
              <a:rPr lang="en-US" sz="2400" err="1"/>
              <a:t>screen_r_Screen</a:t>
            </a:r>
            <a:r>
              <a:rPr lang="en-US" sz="2400"/>
              <a:t> method displays the UI for “screen –r” command and prompts the user for a command to display the current status of the process.</a:t>
            </a:r>
          </a:p>
          <a:p>
            <a:r>
              <a:rPr lang="en-US" sz="2400"/>
              <a:t>In the case of incorrect commands, the menu displays the appropriate message such as “</a:t>
            </a:r>
            <a:r>
              <a:rPr lang="en-PH" sz="160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Process po1 does not exist. Use 'screen -s &lt;name&gt; to create it.</a:t>
            </a:r>
            <a:r>
              <a:rPr lang="en-US" sz="2000"/>
              <a:t>“ for the awareness of the user.</a:t>
            </a:r>
          </a:p>
          <a:p>
            <a:r>
              <a:rPr lang="en-US" sz="2400"/>
              <a:t>After this, the menu will then ask again for user input, which makes it capable of handling errors. </a:t>
            </a:r>
            <a:endParaRPr lang="en-PH" sz="240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E8B37-F70B-EB6E-F835-8C1F6D82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A984BB-F91F-74B1-9D61-B7CD64C55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884" y="3097383"/>
            <a:ext cx="4806073" cy="28750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064372-325D-FE8C-89FF-259C2EA01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014" y="484459"/>
            <a:ext cx="5433236" cy="222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67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AFE88-3BB3-4A37-8738-A7A760A9234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Command Recognition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0A3B5E-0D88-40D3-ADEE-967AB121DC8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8" y="868362"/>
            <a:ext cx="5245771" cy="562164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For example, the initialize command reads the “</a:t>
            </a:r>
            <a:r>
              <a:rPr lang="en-US" sz="2400" err="1"/>
              <a:t>config.txt</a:t>
            </a:r>
            <a:r>
              <a:rPr lang="en-US" sz="2400"/>
              <a:t>” file to take in the following information:</a:t>
            </a:r>
          </a:p>
          <a:p>
            <a:pPr lvl="1"/>
            <a:r>
              <a:rPr lang="en-US" sz="2000"/>
              <a:t>Number of CPUs</a:t>
            </a:r>
          </a:p>
          <a:p>
            <a:pPr lvl="1"/>
            <a:r>
              <a:rPr lang="en-US" sz="2000"/>
              <a:t>Scheduler type (FCFS or Round robin)</a:t>
            </a:r>
          </a:p>
          <a:p>
            <a:pPr lvl="1"/>
            <a:r>
              <a:rPr lang="en-US" sz="2000"/>
              <a:t>Quantum cycles</a:t>
            </a:r>
          </a:p>
          <a:p>
            <a:pPr lvl="1"/>
            <a:r>
              <a:rPr lang="en-US" sz="2000"/>
              <a:t>Batch process frequency</a:t>
            </a:r>
          </a:p>
          <a:p>
            <a:pPr lvl="1"/>
            <a:r>
              <a:rPr lang="en-US" sz="2000"/>
              <a:t>Minimum instructions per process</a:t>
            </a:r>
          </a:p>
          <a:p>
            <a:pPr lvl="1"/>
            <a:r>
              <a:rPr lang="en-US" sz="2000"/>
              <a:t>Maximum instructions per process</a:t>
            </a:r>
          </a:p>
          <a:p>
            <a:pPr lvl="1"/>
            <a:r>
              <a:rPr lang="en-US" sz="2000"/>
              <a:t>Delay before executing the next instruction in CPU cycles</a:t>
            </a:r>
          </a:p>
          <a:p>
            <a:r>
              <a:rPr lang="en-US" sz="2400"/>
              <a:t>Once ”initialize” command is activated, these will be printed in the command line.</a:t>
            </a:r>
          </a:p>
          <a:p>
            <a:r>
              <a:rPr lang="en-US" sz="2400"/>
              <a:t>These information are to be used later on in the scheduler-test.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E8B37-F70B-EB6E-F835-8C1F6D82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6E3FFFD-08F3-B778-F6A4-971CAA8E4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463" y="4203370"/>
            <a:ext cx="4982994" cy="1897140"/>
          </a:xfrm>
          <a:prstGeom prst="rect">
            <a:avLst/>
          </a:prstGeom>
        </p:spPr>
      </p:pic>
      <p:pic>
        <p:nvPicPr>
          <p:cNvPr id="10" name="Picture 9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62492DBF-A0CF-F2F6-0AC8-BC226EDB7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887" y="410388"/>
            <a:ext cx="6004361" cy="353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38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AFE88-3BB3-4A37-8738-A7A760A9234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Command Recognition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0A3B5E-0D88-40D3-ADEE-967AB121DC8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48403" y="868362"/>
            <a:ext cx="6362675" cy="5652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Calibri"/>
                <a:cs typeface="Calibri"/>
              </a:rPr>
              <a:t>For the "</a:t>
            </a:r>
            <a:r>
              <a:rPr lang="en-US" sz="2400" err="1">
                <a:ea typeface="Calibri"/>
                <a:cs typeface="Calibri"/>
              </a:rPr>
              <a:t>vmstat</a:t>
            </a:r>
            <a:r>
              <a:rPr lang="en-US" sz="2400">
                <a:ea typeface="Calibri"/>
                <a:cs typeface="Calibri"/>
              </a:rPr>
              <a:t>" command, the </a:t>
            </a:r>
            <a:r>
              <a:rPr lang="en-US" sz="2400" err="1">
                <a:ea typeface="Calibri"/>
                <a:cs typeface="Calibri"/>
              </a:rPr>
              <a:t>vmstatScreen</a:t>
            </a:r>
            <a:r>
              <a:rPr lang="en-US" sz="2400">
                <a:ea typeface="Calibri"/>
                <a:cs typeface="Calibri"/>
              </a:rPr>
              <a:t>() method of the </a:t>
            </a:r>
            <a:r>
              <a:rPr lang="en-US" sz="2400" err="1">
                <a:ea typeface="Calibri"/>
                <a:cs typeface="Calibri"/>
              </a:rPr>
              <a:t>CliLayout</a:t>
            </a:r>
            <a:r>
              <a:rPr lang="en-US" sz="2400">
                <a:ea typeface="Calibri"/>
                <a:cs typeface="Calibri"/>
              </a:rPr>
              <a:t> class is called with string vector as its parameter which contains the information needed to be displayed. It also contains the format for the command.</a:t>
            </a:r>
          </a:p>
          <a:p>
            <a:r>
              <a:rPr lang="en-US" sz="2400">
                <a:ea typeface="Calibri"/>
                <a:cs typeface="Calibri"/>
              </a:rPr>
              <a:t>For "process-</a:t>
            </a:r>
            <a:r>
              <a:rPr lang="en-US" sz="2400" err="1">
                <a:ea typeface="Calibri"/>
                <a:cs typeface="Calibri"/>
              </a:rPr>
              <a:t>smi</a:t>
            </a:r>
            <a:r>
              <a:rPr lang="en-US" sz="2400">
                <a:ea typeface="Calibri"/>
                <a:cs typeface="Calibri"/>
              </a:rPr>
              <a:t>" command, similarly to the "</a:t>
            </a:r>
            <a:r>
              <a:rPr lang="en-US" sz="2400" err="1">
                <a:ea typeface="Calibri"/>
                <a:cs typeface="Calibri"/>
              </a:rPr>
              <a:t>vmstat</a:t>
            </a:r>
            <a:r>
              <a:rPr lang="en-US" sz="2400">
                <a:ea typeface="Calibri"/>
                <a:cs typeface="Calibri"/>
              </a:rPr>
              <a:t>" command, it is implemented as a method of the </a:t>
            </a:r>
            <a:r>
              <a:rPr lang="en-US" sz="2400" err="1">
                <a:ea typeface="Calibri"/>
                <a:cs typeface="Calibri"/>
              </a:rPr>
              <a:t>CliLayout</a:t>
            </a:r>
            <a:r>
              <a:rPr lang="en-US" sz="2400">
                <a:ea typeface="Calibri"/>
                <a:cs typeface="Calibri"/>
              </a:rPr>
              <a:t> class with a string vector as its parameter. The vector contains information such as </a:t>
            </a:r>
            <a:r>
              <a:rPr lang="en-US" sz="2400" err="1">
                <a:ea typeface="Calibri"/>
                <a:cs typeface="Calibri"/>
              </a:rPr>
              <a:t>cpu</a:t>
            </a:r>
            <a:r>
              <a:rPr lang="en-US" sz="2400">
                <a:ea typeface="Calibri"/>
                <a:cs typeface="Calibri"/>
              </a:rPr>
              <a:t> utilization, used memory, total memory, memory utilization, and process information that are currently running in the memory.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E8B37-F70B-EB6E-F835-8C1F6D82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11F99DA0-9C5C-C1C8-4C28-CFB521104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890" y="177879"/>
            <a:ext cx="4373672" cy="3015831"/>
          </a:xfrm>
          <a:prstGeom prst="rect">
            <a:avLst/>
          </a:prstGeom>
        </p:spPr>
      </p:pic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4DCB1FC-E4F8-3C12-D082-EE1008803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952" y="3301557"/>
            <a:ext cx="3436068" cy="319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081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AE01E-BD06-BE57-1B89-02BAAA4CC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FD97-3B20-9A47-DBAC-CEFACAA019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Process Representation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E3A71F-8E9E-9595-7AE7-AA7067E8E2F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9" y="868363"/>
            <a:ext cx="5878912" cy="51371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800"/>
              <a:t>Each individual process is represented as a class with the following fields:</a:t>
            </a:r>
            <a:endParaRPr lang="en-US" sz="180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800"/>
              <a:t>Name = Corresponds to the name of the process.</a:t>
            </a:r>
            <a:endParaRPr lang="en-US" sz="180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800" err="1"/>
              <a:t>timeCreated</a:t>
            </a:r>
            <a:r>
              <a:rPr lang="en-US" sz="1800"/>
              <a:t> = Which was when the process was created in (MM:DD:YY HH:MM:SS AM) format.</a:t>
            </a:r>
            <a:endParaRPr lang="en-US" sz="180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800" err="1"/>
              <a:t>currLine</a:t>
            </a:r>
            <a:r>
              <a:rPr lang="en-US" sz="1800"/>
              <a:t> = Corresponds to the current line of instruction to be executed.</a:t>
            </a:r>
            <a:endParaRPr lang="en-US" sz="180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800" err="1">
                <a:latin typeface="Calibri" panose="020F0502020204030204"/>
                <a:ea typeface="Calibri"/>
                <a:cs typeface="Calibri"/>
              </a:rPr>
              <a:t>totalLine</a:t>
            </a:r>
            <a:r>
              <a:rPr lang="en-US" sz="1800"/>
              <a:t> = Which is the total lines of instruction to be executed.</a:t>
            </a:r>
            <a:endParaRPr lang="en-US" sz="180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800" err="1"/>
              <a:t>coreNumber</a:t>
            </a:r>
            <a:r>
              <a:rPr lang="en-US" sz="1800"/>
              <a:t> = Corresponds to the </a:t>
            </a:r>
            <a:r>
              <a:rPr lang="en-US" sz="1800" err="1"/>
              <a:t>cpu</a:t>
            </a:r>
            <a:r>
              <a:rPr lang="en-US" sz="1800"/>
              <a:t> assigned to run the process. By default, its value is -1, meaning no </a:t>
            </a:r>
            <a:r>
              <a:rPr lang="en-US" sz="1800" err="1"/>
              <a:t>cpu</a:t>
            </a:r>
            <a:r>
              <a:rPr lang="en-US" sz="1800"/>
              <a:t> was assigned to it yet.</a:t>
            </a:r>
            <a:endParaRPr lang="en-US" sz="180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800">
                <a:ea typeface="Calibri"/>
                <a:cs typeface="Calibri"/>
              </a:rPr>
              <a:t>status = Represents the status of the process. Can be "RUNNING", "WAITING", or "COMPLETED"</a:t>
            </a:r>
          </a:p>
          <a:p>
            <a:pPr marL="342900" indent="-342900">
              <a:buAutoNum type="arabicPeriod"/>
            </a:pPr>
            <a:r>
              <a:rPr lang="en-US" sz="1800" err="1">
                <a:ea typeface="Calibri"/>
                <a:cs typeface="Calibri"/>
              </a:rPr>
              <a:t>TotalMemory</a:t>
            </a:r>
            <a:r>
              <a:rPr lang="en-US" sz="1800">
                <a:ea typeface="Calibri"/>
                <a:cs typeface="Calibri"/>
              </a:rPr>
              <a:t> = Represents the total used memory needed or consumed by the process. </a:t>
            </a:r>
          </a:p>
          <a:p>
            <a:pPr marL="0" indent="0">
              <a:buNone/>
            </a:pPr>
            <a:endParaRPr lang="en-US" sz="2400"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 sz="2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F23FD-D4FD-D654-9574-64E95923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E2CB31-4A87-E778-FC39-A3511CA68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348" y="522288"/>
            <a:ext cx="4010585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9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718DD-35E6-0986-B3FE-B36F9F7EE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6C0C-39C4-8E70-83E2-CDA9A2D499B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Process Representation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47E178-2422-8E0F-F9DC-C5C709C4181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9" y="868363"/>
            <a:ext cx="5878912" cy="51371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list of processes created in the program is represented in the following ways:</a:t>
            </a:r>
          </a:p>
          <a:p>
            <a:pPr marL="457200" indent="-457200">
              <a:buAutoNum type="arabicParenR"/>
            </a:pPr>
            <a:r>
              <a:rPr lang="en-US" sz="2400"/>
              <a:t>Map = Stores the list of processes for  displaying in the “screen –ls” and “report –util” command.</a:t>
            </a:r>
          </a:p>
          <a:p>
            <a:pPr marL="457200" indent="-457200">
              <a:buAutoNum type="arabicParenR"/>
            </a:pPr>
            <a:r>
              <a:rPr lang="en-US" sz="2400"/>
              <a:t>Queue = Represents the list of processes ready queue and is used in the scheduling methods.</a:t>
            </a:r>
          </a:p>
          <a:p>
            <a:r>
              <a:rPr lang="en-US" sz="2400"/>
              <a:t>When a process is created, it is stored to the map and queue as a reference so that when the process information gets modified in the queue, the changes also reflects on the map.</a:t>
            </a:r>
          </a:p>
          <a:p>
            <a:endParaRPr lang="en-US" sz="24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1C62C-3346-64A4-16F4-428A4E0B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9F228985-0D3B-F7EA-243B-82A7A9B20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780" y="522288"/>
            <a:ext cx="4563112" cy="3543795"/>
          </a:xfrm>
          <a:prstGeom prst="rect">
            <a:avLst/>
          </a:prstGeom>
        </p:spPr>
      </p:pic>
      <p:pic>
        <p:nvPicPr>
          <p:cNvPr id="9" name="Picture 8" descr="A computer screen with text&#10;&#10;Description automatically generated">
            <a:extLst>
              <a:ext uri="{FF2B5EF4-FFF2-40B4-BE49-F238E27FC236}">
                <a16:creationId xmlns:a16="http://schemas.microsoft.com/office/drawing/2014/main" id="{CAF7DC9A-7B22-AA9D-550D-BA205F0C2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780" y="4551340"/>
            <a:ext cx="4882818" cy="145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418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BEC5C-E712-A71E-F1C9-7A9CA707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EA8B-35ED-5BA6-21CF-484152C914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Scheduler Implementation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015554-69D4-19C8-50B1-4BDA2B9FFA5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6567169" cy="51371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scheduler class handles the program configurations and various methods relating to the scheduling such as:</a:t>
            </a:r>
          </a:p>
          <a:p>
            <a:pPr marL="457200" indent="-457200">
              <a:buAutoNum type="arabicParenR"/>
            </a:pPr>
            <a:r>
              <a:rPr lang="en-US" sz="2400" err="1"/>
              <a:t>createProcess</a:t>
            </a:r>
            <a:r>
              <a:rPr lang="en-US" sz="2400"/>
              <a:t> = Creates a new process with a unique name and </a:t>
            </a:r>
            <a:r>
              <a:rPr lang="en-US" sz="2400" err="1"/>
              <a:t>pid</a:t>
            </a:r>
            <a:r>
              <a:rPr lang="en-US" sz="2400"/>
              <a:t>. It also calls the </a:t>
            </a:r>
            <a:r>
              <a:rPr lang="en-US" sz="2400" err="1"/>
              <a:t>getCurrentTime</a:t>
            </a:r>
            <a:r>
              <a:rPr lang="en-US" sz="2400"/>
              <a:t> function to know when the process was created.</a:t>
            </a:r>
          </a:p>
          <a:p>
            <a:pPr marL="457200" indent="-457200">
              <a:buAutoNum type="arabicParenR"/>
            </a:pPr>
            <a:r>
              <a:rPr lang="en-US" sz="2400" err="1"/>
              <a:t>cpuClock</a:t>
            </a:r>
            <a:r>
              <a:rPr lang="en-US" sz="2400"/>
              <a:t> = Represents the </a:t>
            </a:r>
            <a:r>
              <a:rPr lang="en-US" sz="2400" err="1"/>
              <a:t>cpu</a:t>
            </a:r>
            <a:r>
              <a:rPr lang="en-US" sz="2400"/>
              <a:t> clock of the program. </a:t>
            </a:r>
          </a:p>
          <a:p>
            <a:pPr marL="457200" indent="-457200">
              <a:buAutoNum type="arabicParenR"/>
            </a:pPr>
            <a:r>
              <a:rPr lang="en-US" sz="2400" err="1"/>
              <a:t>startSchedule</a:t>
            </a:r>
            <a:r>
              <a:rPr lang="en-US" sz="2400"/>
              <a:t> = Creates the threads necessary and calls the </a:t>
            </a:r>
            <a:r>
              <a:rPr lang="en-US" sz="2400" err="1"/>
              <a:t>roundRobin</a:t>
            </a:r>
            <a:r>
              <a:rPr lang="en-US" sz="2400"/>
              <a:t> and </a:t>
            </a:r>
            <a:r>
              <a:rPr lang="en-US" sz="2400" err="1"/>
              <a:t>fcfs</a:t>
            </a:r>
            <a:r>
              <a:rPr lang="en-US" sz="2400"/>
              <a:t> functions.</a:t>
            </a:r>
          </a:p>
          <a:p>
            <a:pPr marL="457200" indent="-457200">
              <a:buAutoNum type="arabicParenR"/>
            </a:pPr>
            <a:r>
              <a:rPr lang="en-US" sz="2400" err="1"/>
              <a:t>stopScheduler</a:t>
            </a:r>
            <a:r>
              <a:rPr lang="en-US" sz="2400"/>
              <a:t> = Stops the scheduler and joins all the threads together.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BF8CC-CA20-BF9D-27E6-3D89C2A7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109152F7-E45A-055F-32A9-50B3472DD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500" y="868363"/>
            <a:ext cx="3762900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99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B8880-B380-0E16-EE04-EBCAF6DB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E0BD-CCC9-B6F8-0722-B1C21ADC53E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Scheduler Implementation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09A2AE-017E-69CD-B369-AC8DE01E2D3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6567169" cy="51371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scheduler is initialized by the </a:t>
            </a:r>
            <a:r>
              <a:rPr lang="en-US" sz="2400" err="1"/>
              <a:t>CliManager</a:t>
            </a:r>
            <a:r>
              <a:rPr lang="en-US" sz="2400"/>
              <a:t> class upon entering the “initialize” command. It then calls the scheduler constructor which reads the configuration file which will be used in setting the fields of the scheduler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Once the user inputs the command “scheduler-start”, the </a:t>
            </a:r>
            <a:r>
              <a:rPr lang="en-US" sz="2400" err="1"/>
              <a:t>CliManager</a:t>
            </a:r>
            <a:r>
              <a:rPr lang="en-US" sz="2400"/>
              <a:t> class will call the </a:t>
            </a:r>
            <a:r>
              <a:rPr lang="en-US" sz="2400" err="1"/>
              <a:t>startScheduler</a:t>
            </a:r>
            <a:r>
              <a:rPr lang="en-US" sz="2400"/>
              <a:t> method which will initialize the threads and other necessary fields for the scheduler.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threads that were created will then call the </a:t>
            </a:r>
            <a:r>
              <a:rPr lang="en-US" sz="2400" err="1"/>
              <a:t>fcfs</a:t>
            </a:r>
            <a:r>
              <a:rPr lang="en-US" sz="2400"/>
              <a:t> or </a:t>
            </a:r>
            <a:r>
              <a:rPr lang="en-US" sz="2400" err="1"/>
              <a:t>roundRobin</a:t>
            </a:r>
            <a:r>
              <a:rPr lang="en-US" sz="2400"/>
              <a:t> method depending on the settings of the configuration file.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119B2-3F0B-5AB7-D680-9C7535A4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1DF94C94-AB8A-091B-AB34-B2C32A2B7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928" y="344128"/>
            <a:ext cx="4880669" cy="3193235"/>
          </a:xfrm>
          <a:prstGeom prst="rect">
            <a:avLst/>
          </a:prstGeom>
        </p:spPr>
      </p:pic>
      <p:pic>
        <p:nvPicPr>
          <p:cNvPr id="9" name="Picture 8" descr="A computer screen with text&#10;&#10;Description automatically generated">
            <a:extLst>
              <a:ext uri="{FF2B5EF4-FFF2-40B4-BE49-F238E27FC236}">
                <a16:creationId xmlns:a16="http://schemas.microsoft.com/office/drawing/2014/main" id="{BE4C48F8-0E41-E940-8F86-42C5F4C95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240" y="3722693"/>
            <a:ext cx="4345562" cy="222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4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D44F6-D5D7-EB3B-4096-886551E8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A4D4-CA70-3645-889B-BC28BFDB37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Scheduler Implementation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A79C3C-7935-BF55-A3F2-B0ADB03DA48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6567169" cy="51371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</a:t>
            </a:r>
            <a:r>
              <a:rPr lang="en-US" sz="2400" err="1"/>
              <a:t>cpuClock</a:t>
            </a:r>
            <a:r>
              <a:rPr lang="en-US" sz="2400"/>
              <a:t> method is implemented as a separate thread from the </a:t>
            </a:r>
            <a:r>
              <a:rPr lang="en-US" sz="2400" err="1"/>
              <a:t>fcfs</a:t>
            </a:r>
            <a:r>
              <a:rPr lang="en-US" sz="2400"/>
              <a:t> and </a:t>
            </a:r>
            <a:r>
              <a:rPr lang="en-US" sz="2400" err="1"/>
              <a:t>roundRobin</a:t>
            </a:r>
            <a:r>
              <a:rPr lang="en-US" sz="2400"/>
              <a:t> method as it will run independently to determine when a new process will be created and when an instruction will be executed by the schedulers.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condition variable cv2 is used to notify the schedulers that an instruction should be executed in that </a:t>
            </a:r>
            <a:r>
              <a:rPr lang="en-US" sz="2400" err="1"/>
              <a:t>cpu</a:t>
            </a:r>
            <a:r>
              <a:rPr lang="en-US" sz="2400"/>
              <a:t> cycle.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</a:t>
            </a:r>
            <a:r>
              <a:rPr lang="en-US" sz="2400" err="1"/>
              <a:t>createProcess</a:t>
            </a:r>
            <a:r>
              <a:rPr lang="en-US" sz="2400"/>
              <a:t> method is called by the </a:t>
            </a:r>
            <a:r>
              <a:rPr lang="en-US" sz="2400" err="1"/>
              <a:t>cpuClock</a:t>
            </a:r>
            <a:r>
              <a:rPr lang="en-US" sz="2400"/>
              <a:t> and </a:t>
            </a:r>
            <a:r>
              <a:rPr lang="en-US" sz="2400" err="1"/>
              <a:t>CliManager</a:t>
            </a:r>
            <a:r>
              <a:rPr lang="en-US" sz="2400"/>
              <a:t> class when a new process will be created.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To resolve the consumer-producer problem, the condition variable cv is used to notify the schedulers that a process has been created.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D0233-6DD9-8117-431D-7443660C6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44DF88-E1AF-04F1-F422-A583E7E06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243" y="397087"/>
            <a:ext cx="4887007" cy="2838846"/>
          </a:xfrm>
          <a:prstGeom prst="rect">
            <a:avLst/>
          </a:prstGeom>
        </p:spPr>
      </p:pic>
      <p:pic>
        <p:nvPicPr>
          <p:cNvPr id="10" name="Picture 9" descr="A screen shot of a computer&#10;&#10;Description automatically generated">
            <a:extLst>
              <a:ext uri="{FF2B5EF4-FFF2-40B4-BE49-F238E27FC236}">
                <a16:creationId xmlns:a16="http://schemas.microsoft.com/office/drawing/2014/main" id="{B2EB8224-5C7B-6A6D-E598-9C576D964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135" y="4680155"/>
            <a:ext cx="5191222" cy="104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03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306C9-99E3-B0DB-384A-FB795C1A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09E5B-0CE4-C236-5420-A0A7D617E6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Scheduler Implementation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9E1A6-E3B5-5CD4-ECC2-3D344B48C45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8" y="868362"/>
            <a:ext cx="6567169" cy="5306295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</a:t>
            </a:r>
            <a:r>
              <a:rPr lang="en-US" sz="2400" err="1"/>
              <a:t>fcfs</a:t>
            </a:r>
            <a:r>
              <a:rPr lang="en-US" sz="2400"/>
              <a:t> method implements the first come first serve scheduling algorithm. It contains a parameter </a:t>
            </a:r>
            <a:r>
              <a:rPr lang="en-US" sz="2400" err="1"/>
              <a:t>cpuID</a:t>
            </a:r>
            <a:r>
              <a:rPr lang="en-US" sz="2400"/>
              <a:t> which corresponds to the </a:t>
            </a:r>
            <a:r>
              <a:rPr lang="en-US" sz="2400" err="1"/>
              <a:t>cpu</a:t>
            </a:r>
            <a:r>
              <a:rPr lang="en-US" sz="2400"/>
              <a:t> core running the scheduling algorithm.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It uses a </a:t>
            </a:r>
            <a:r>
              <a:rPr lang="en-US" sz="2400" err="1"/>
              <a:t>unique_lock</a:t>
            </a:r>
            <a:r>
              <a:rPr lang="en-US" sz="2400"/>
              <a:t> and condition variable to synchronize with the </a:t>
            </a:r>
            <a:r>
              <a:rPr lang="en-US" sz="2400" err="1"/>
              <a:t>cpuClock</a:t>
            </a:r>
            <a:r>
              <a:rPr lang="en-US" sz="2400"/>
              <a:t> and </a:t>
            </a:r>
            <a:r>
              <a:rPr lang="en-US" sz="2400" err="1"/>
              <a:t>createProcess</a:t>
            </a:r>
            <a:r>
              <a:rPr lang="en-US" sz="2400"/>
              <a:t>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This method will first see if the ready queue is empty or not. If empty, it will wait indefinitely until the </a:t>
            </a:r>
            <a:r>
              <a:rPr lang="en-US" sz="2400" err="1"/>
              <a:t>createProcess</a:t>
            </a:r>
            <a:r>
              <a:rPr lang="en-US" sz="2400"/>
              <a:t> notifies one of the threads that a new process is created and stored in the ready queue.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It then removes the front element from the queue and stores it in a shared pointer called “</a:t>
            </a:r>
            <a:r>
              <a:rPr lang="en-US" sz="2400" err="1"/>
              <a:t>currentProcess</a:t>
            </a:r>
            <a:r>
              <a:rPr lang="en-US" sz="2400"/>
              <a:t>” which will be the process that will be executed by the scheduling algorithm.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E1975-AFBD-EE03-6F0F-24974702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267116F2-8717-6BB6-6ADC-766A0E9CD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19"/>
          <a:stretch/>
        </p:blipFill>
        <p:spPr>
          <a:xfrm>
            <a:off x="7150535" y="766915"/>
            <a:ext cx="4824377" cy="425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2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DDE46-2356-076D-879E-FF253490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3FCE0-7D45-75B9-293C-56AD0C5EFB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Scheduler Implementation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E86B7C-644E-8389-3DE9-DB97E8D6A4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6567169" cy="51371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</a:t>
            </a:r>
            <a:r>
              <a:rPr lang="en-US" sz="2400" err="1"/>
              <a:t>nActiveCores</a:t>
            </a:r>
            <a:r>
              <a:rPr lang="en-US" sz="2400"/>
              <a:t> field is decremented in the first unique lock as the </a:t>
            </a:r>
            <a:r>
              <a:rPr lang="en-US" sz="2400" err="1"/>
              <a:t>cpu</a:t>
            </a:r>
            <a:r>
              <a:rPr lang="en-US" sz="2400"/>
              <a:t> core isn’t executing a process during that time. It is then incremented in the second unique lock as it when the </a:t>
            </a:r>
            <a:r>
              <a:rPr lang="en-US" sz="2400" err="1"/>
              <a:t>cpu</a:t>
            </a:r>
            <a:r>
              <a:rPr lang="en-US" sz="2400"/>
              <a:t> is actively running the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When running the process, the </a:t>
            </a:r>
            <a:r>
              <a:rPr lang="en-US" sz="2400" err="1"/>
              <a:t>fcfs</a:t>
            </a:r>
            <a:r>
              <a:rPr lang="en-US" sz="2400"/>
              <a:t> method must wait for the </a:t>
            </a:r>
            <a:r>
              <a:rPr lang="en-US" sz="2400" err="1"/>
              <a:t>cpuClock</a:t>
            </a:r>
            <a:r>
              <a:rPr lang="en-US" sz="2400"/>
              <a:t> to notify all </a:t>
            </a:r>
            <a:r>
              <a:rPr lang="en-US" sz="2400" err="1"/>
              <a:t>fcfs</a:t>
            </a:r>
            <a:r>
              <a:rPr lang="en-US" sz="2400"/>
              <a:t> method threads before they increment the current line of instruction of the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</a:t>
            </a:r>
            <a:r>
              <a:rPr lang="en-US" sz="2400" err="1"/>
              <a:t>fcfs</a:t>
            </a:r>
            <a:r>
              <a:rPr lang="en-US" sz="2400"/>
              <a:t> method will then stop if the </a:t>
            </a:r>
            <a:r>
              <a:rPr lang="en-US" sz="2400" err="1"/>
              <a:t>isActive</a:t>
            </a:r>
            <a:r>
              <a:rPr lang="en-US" sz="2400"/>
              <a:t> variable is set to false, regardless if there are still unfinished processes in the ready queue.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98166-80EE-098C-9672-AEB89DF67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7C334F5C-3844-9B94-37B9-CB8623877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19"/>
          <a:stretch/>
        </p:blipFill>
        <p:spPr>
          <a:xfrm>
            <a:off x="7150535" y="766915"/>
            <a:ext cx="4824377" cy="425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361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9F8F-C285-C18C-5CB8-D5DB425E6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58113-54E2-C283-FA22-AF88538CA4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Scheduler Implementation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C37ABE-E18A-83F6-9748-26EEF104C67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9" y="868363"/>
            <a:ext cx="6341028" cy="51371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</a:t>
            </a:r>
            <a:r>
              <a:rPr lang="en-US" sz="2400" err="1"/>
              <a:t>roundRobin</a:t>
            </a:r>
            <a:r>
              <a:rPr lang="en-US" sz="2400"/>
              <a:t> method implements the round robin scheduling algorithm with the </a:t>
            </a:r>
            <a:r>
              <a:rPr lang="en-US" sz="2400" err="1"/>
              <a:t>cpuID</a:t>
            </a:r>
            <a:r>
              <a:rPr lang="en-US" sz="2400"/>
              <a:t> as its parameter which represents </a:t>
            </a:r>
            <a:r>
              <a:rPr lang="en-US" sz="2400" err="1"/>
              <a:t>cpu</a:t>
            </a:r>
            <a:r>
              <a:rPr lang="en-US" sz="2400"/>
              <a:t> core running the scheduling algorithm.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Similarly to the </a:t>
            </a:r>
            <a:r>
              <a:rPr lang="en-US" sz="2400" err="1"/>
              <a:t>fcfs</a:t>
            </a:r>
            <a:r>
              <a:rPr lang="en-US" sz="2400"/>
              <a:t> method, the </a:t>
            </a:r>
            <a:r>
              <a:rPr lang="en-US" sz="2400" err="1"/>
              <a:t>roundRobin</a:t>
            </a:r>
            <a:r>
              <a:rPr lang="en-US" sz="2400"/>
              <a:t> method also uses unique locks and condition variables to synchronize with the </a:t>
            </a:r>
            <a:r>
              <a:rPr lang="en-US" sz="2400" err="1"/>
              <a:t>cpuClock</a:t>
            </a:r>
            <a:r>
              <a:rPr lang="en-US" sz="2400"/>
              <a:t> and </a:t>
            </a:r>
            <a:r>
              <a:rPr lang="en-US" sz="2400" err="1"/>
              <a:t>createProcess</a:t>
            </a:r>
            <a:r>
              <a:rPr lang="en-US" sz="2400"/>
              <a:t>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Unlike the </a:t>
            </a:r>
            <a:r>
              <a:rPr lang="en-US" sz="2400" err="1"/>
              <a:t>fcfs</a:t>
            </a:r>
            <a:r>
              <a:rPr lang="en-US" sz="2400"/>
              <a:t> method, each thread in this method contains its own queue called </a:t>
            </a:r>
            <a:r>
              <a:rPr lang="en-US" sz="2400" err="1"/>
              <a:t>cpuQueue</a:t>
            </a:r>
            <a:r>
              <a:rPr lang="en-US" sz="2400"/>
              <a:t> wherein processes from the ready queue will be then stored here to ensure that only one </a:t>
            </a:r>
            <a:r>
              <a:rPr lang="en-US" sz="2400" err="1"/>
              <a:t>cpu</a:t>
            </a:r>
            <a:r>
              <a:rPr lang="en-US" sz="2400"/>
              <a:t> core is running a process and that it is not being passed around in other </a:t>
            </a:r>
            <a:r>
              <a:rPr lang="en-US" sz="2400" err="1"/>
              <a:t>cpu</a:t>
            </a:r>
            <a:r>
              <a:rPr lang="en-US" sz="2400"/>
              <a:t> cores.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E669-32F4-4479-C905-8DAF5D43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04193D-8C08-37CA-F281-0B7C94157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84"/>
          <a:stretch/>
        </p:blipFill>
        <p:spPr>
          <a:xfrm>
            <a:off x="6677733" y="960744"/>
            <a:ext cx="5228353" cy="310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764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D5C25-A837-22B9-7305-38F543F5A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B180B-CF4E-E45B-82EF-8522C13430B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Scheduler Implementation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BF8F52-E684-650E-FC4F-DDA1C123330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9" y="868363"/>
            <a:ext cx="6341028" cy="51371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execution of process in the </a:t>
            </a:r>
            <a:r>
              <a:rPr lang="en-US" sz="2400" err="1"/>
              <a:t>roundRobin</a:t>
            </a:r>
            <a:r>
              <a:rPr lang="en-US" sz="2400"/>
              <a:t> method is similar to the </a:t>
            </a:r>
            <a:r>
              <a:rPr lang="en-US" sz="2400" err="1"/>
              <a:t>fcfs</a:t>
            </a:r>
            <a:r>
              <a:rPr lang="en-US" sz="2400"/>
              <a:t> method except for some few minor 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This method will only increment the current line of instruction on a certain time slice.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If a process is finished executing before the time slice ends, it will then be removed from the </a:t>
            </a:r>
            <a:r>
              <a:rPr lang="en-US" sz="2400" err="1"/>
              <a:t>cpuQueue</a:t>
            </a:r>
            <a:r>
              <a:rPr lang="en-US" sz="2400"/>
              <a:t>. Otherwise, it will then be pushed back in the back of the </a:t>
            </a:r>
            <a:r>
              <a:rPr lang="en-US" sz="2400" err="1"/>
              <a:t>cpuQueue</a:t>
            </a:r>
            <a:r>
              <a:rPr lang="en-US" sz="24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</a:t>
            </a:r>
            <a:r>
              <a:rPr lang="en-US" sz="2400" err="1"/>
              <a:t>roundRobin</a:t>
            </a:r>
            <a:r>
              <a:rPr lang="en-US" sz="2400"/>
              <a:t> method will stop once </a:t>
            </a:r>
            <a:r>
              <a:rPr lang="en-US" sz="2400" err="1"/>
              <a:t>isActive</a:t>
            </a:r>
            <a:r>
              <a:rPr lang="en-US" sz="2400"/>
              <a:t> is set to false and will push back all elements of the </a:t>
            </a:r>
            <a:r>
              <a:rPr lang="en-US" sz="2400" err="1"/>
              <a:t>cpuQueue</a:t>
            </a:r>
            <a:r>
              <a:rPr lang="en-US" sz="2400"/>
              <a:t> back to the ready queue.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2370B-15D4-98FF-9581-1F1DFB92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21E2D5-CD43-1F78-58E7-8669E939D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325" y="522288"/>
            <a:ext cx="5096586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42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FE041-ABDD-83E4-5117-626C528D8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BAE1-747F-3693-7540-E9BF24D8AF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Scheduler Implementation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20D296-6D4C-A290-F2C8-BF7F3F1E446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9" y="868363"/>
            <a:ext cx="6341028" cy="51371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When the user inputs the “scheduler-stop” command, the </a:t>
            </a:r>
            <a:r>
              <a:rPr lang="en-US" sz="2400" err="1"/>
              <a:t>CliManager</a:t>
            </a:r>
            <a:r>
              <a:rPr lang="en-US" sz="2400"/>
              <a:t> class will then call the </a:t>
            </a:r>
            <a:r>
              <a:rPr lang="en-US" sz="2400" err="1"/>
              <a:t>stopSchedule</a:t>
            </a:r>
            <a:r>
              <a:rPr lang="en-US" sz="2400"/>
              <a:t> method. It will set the </a:t>
            </a:r>
            <a:r>
              <a:rPr lang="en-US" sz="2400" err="1"/>
              <a:t>isActive</a:t>
            </a:r>
            <a:r>
              <a:rPr lang="en-US" sz="2400"/>
              <a:t> variable to false and the </a:t>
            </a:r>
            <a:r>
              <a:rPr lang="en-US" sz="2400" err="1"/>
              <a:t>nActiveCores</a:t>
            </a:r>
            <a:r>
              <a:rPr lang="en-US" sz="2400"/>
              <a:t> to 0. It will then notify all the threads that are waiting to be assigned a process, and that are currently running a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Once all the threads are notified, it will then join all threads of the scheduler, including the thread for the </a:t>
            </a:r>
            <a:r>
              <a:rPr lang="en-US" sz="2400" err="1"/>
              <a:t>cpuClock</a:t>
            </a:r>
            <a:r>
              <a:rPr lang="en-US" sz="2400"/>
              <a:t> method.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Lastly, it will clear the vector of threads so that the program won’t have any issues when the </a:t>
            </a:r>
            <a:r>
              <a:rPr lang="en-US" sz="2400" err="1"/>
              <a:t>startSchedule</a:t>
            </a:r>
            <a:r>
              <a:rPr lang="en-US" sz="2400"/>
              <a:t> method is called again.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71CF6-12D3-8A92-9262-6A273FFB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8B80A8-E0E1-5CBB-99A2-A3C3EAD87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641" y="1121266"/>
            <a:ext cx="4182059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4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E04E0-8189-1ED0-DCEA-B1DBD3D1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EB09-AD10-2A81-C0B5-F2EA78138E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Memory management – paging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F4DAB1-7150-37F1-4E89-64F0D1876C5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9" y="868363"/>
            <a:ext cx="6341028" cy="513715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In the paging memory management , the main memory is segmented into frames which is represented by </a:t>
            </a:r>
            <a:r>
              <a:rPr lang="en-US" sz="2400" err="1"/>
              <a:t>mem_per_frame</a:t>
            </a:r>
            <a:r>
              <a:rPr lang="en-US" sz="2400"/>
              <a:t>.  </a:t>
            </a:r>
          </a:p>
          <a:p>
            <a:r>
              <a:rPr lang="en-US" sz="2400">
                <a:ea typeface="Calibri"/>
                <a:cs typeface="Calibri"/>
              </a:rPr>
              <a:t>The character of vectors named "memory" contains the values "F" if memory frame is free and "O" if memory frame is occupied.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err="1"/>
              <a:t>num_paged_in</a:t>
            </a:r>
            <a:r>
              <a:rPr lang="en-US" sz="2400"/>
              <a:t> and </a:t>
            </a:r>
            <a:r>
              <a:rPr lang="en-US" sz="2400" err="1"/>
              <a:t>num_paged_out</a:t>
            </a:r>
            <a:r>
              <a:rPr lang="en-US" sz="2400"/>
              <a:t> counts the number of paged in and paged out.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Calibri"/>
                <a:cs typeface="Calibri"/>
              </a:rPr>
              <a:t>Allocate() method allocates the process in the memory through the use of helper methods such as </a:t>
            </a:r>
            <a:r>
              <a:rPr lang="en-US" sz="2400" err="1">
                <a:ea typeface="Calibri"/>
                <a:cs typeface="Calibri"/>
              </a:rPr>
              <a:t>canAllocate</a:t>
            </a:r>
            <a:r>
              <a:rPr lang="en-US" sz="2400">
                <a:ea typeface="Calibri"/>
                <a:cs typeface="Calibri"/>
              </a:rPr>
              <a:t>(), </a:t>
            </a:r>
            <a:r>
              <a:rPr lang="en-US" sz="2400" err="1">
                <a:ea typeface="Calibri"/>
                <a:cs typeface="Calibri"/>
              </a:rPr>
              <a:t>allocateAt</a:t>
            </a:r>
            <a:r>
              <a:rPr lang="en-US" sz="2400">
                <a:ea typeface="Calibri"/>
                <a:cs typeface="Calibri"/>
              </a:rPr>
              <a:t>(), </a:t>
            </a:r>
            <a:r>
              <a:rPr lang="en-US" sz="2400" err="1">
                <a:ea typeface="Calibri"/>
                <a:cs typeface="Calibri"/>
              </a:rPr>
              <a:t>getAvailableFrames</a:t>
            </a:r>
            <a:r>
              <a:rPr lang="en-US" sz="2400">
                <a:ea typeface="Calibri"/>
                <a:cs typeface="Calibri"/>
              </a:rPr>
              <a:t>(), etc.</a:t>
            </a:r>
          </a:p>
          <a:p>
            <a:r>
              <a:rPr lang="en-US" sz="2400">
                <a:ea typeface="Calibri"/>
                <a:cs typeface="Calibri"/>
              </a:rPr>
              <a:t>Deallocate() method deallocates the process in the memory. The process is removed from the memory </a:t>
            </a:r>
            <a:r>
              <a:rPr lang="en-US" sz="2400" err="1">
                <a:ea typeface="Calibri"/>
                <a:cs typeface="Calibri"/>
              </a:rPr>
              <a:t>allocationMap</a:t>
            </a:r>
            <a:r>
              <a:rPr lang="en-US" sz="2400">
                <a:ea typeface="Calibri"/>
                <a:cs typeface="Calibri"/>
              </a:rPr>
              <a:t> and the memory frames are set to "F" signifying that the frame is free.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/>
          </a:p>
          <a:p>
            <a:endParaRPr lang="en-US" sz="2400">
              <a:ea typeface="Calibri" panose="020F0502020204030204"/>
              <a:cs typeface="Calibri" panose="020F0502020204030204"/>
            </a:endParaRPr>
          </a:p>
          <a:p>
            <a:endParaRPr lang="en-US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278B7-BE83-0DAF-94BF-3CF2FC4AA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A03412-7B0B-81DB-AD91-B94559012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090" y="-2494"/>
            <a:ext cx="3557872" cy="1177851"/>
          </a:xfrm>
          <a:prstGeom prst="rect">
            <a:avLst/>
          </a:prstGeom>
        </p:spPr>
      </p:pic>
      <p:pic>
        <p:nvPicPr>
          <p:cNvPr id="3" name="Picture 2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E81840CE-E5EA-897F-A282-53E45136F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386" y="1356481"/>
            <a:ext cx="3566085" cy="3014134"/>
          </a:xfrm>
          <a:prstGeom prst="rect">
            <a:avLst/>
          </a:prstGeom>
        </p:spPr>
      </p:pic>
      <p:pic>
        <p:nvPicPr>
          <p:cNvPr id="7" name="Picture 6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AA01EBB2-8957-32C0-589C-E530673F3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428" y="4463194"/>
            <a:ext cx="3689049" cy="226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22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62F2F-1594-290D-6666-E38A9FA3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CB2B-131A-D696-0CED-14C3A6B74B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Memory management – paging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DD0476-A92B-4720-775F-51450EE1836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9" y="868363"/>
            <a:ext cx="6341028" cy="513715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buFont typeface="Arial,Sans-Serif" panose="020B0604020202020204" pitchFamily="34" charset="0"/>
              <a:buChar char="•"/>
            </a:pPr>
            <a:r>
              <a:rPr lang="en-US" sz="2400" err="1"/>
              <a:t>canAllocate</a:t>
            </a:r>
            <a:r>
              <a:rPr lang="en-US" sz="2400"/>
              <a:t>() method checks if a frame in a memory is unoccupied or not</a:t>
            </a:r>
            <a:endParaRPr lang="en-US" sz="2400">
              <a:ea typeface="Calibri"/>
              <a:cs typeface="Calibri"/>
            </a:endParaRP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400" err="1"/>
              <a:t>allocateAt</a:t>
            </a:r>
            <a:r>
              <a:rPr lang="en-US" sz="2400"/>
              <a:t>() method that allocates a memory to a process. </a:t>
            </a:r>
            <a:endParaRPr lang="en-US"/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400">
                <a:ea typeface="Calibri"/>
                <a:cs typeface="Calibri"/>
              </a:rPr>
              <a:t>The </a:t>
            </a:r>
            <a:r>
              <a:rPr lang="en-US" sz="2400" err="1">
                <a:ea typeface="Calibri"/>
                <a:cs typeface="Calibri"/>
              </a:rPr>
              <a:t>backingStore</a:t>
            </a:r>
            <a:r>
              <a:rPr lang="en-US" sz="2400">
                <a:ea typeface="Calibri"/>
                <a:cs typeface="Calibri"/>
              </a:rPr>
              <a:t>() method finds a process in the memory that is not "RUNNING", deallocates it and stores it in the </a:t>
            </a:r>
            <a:r>
              <a:rPr lang="en-US" sz="2400" err="1">
                <a:ea typeface="Calibri"/>
                <a:cs typeface="Calibri"/>
              </a:rPr>
              <a:t>backing_store</a:t>
            </a:r>
            <a:r>
              <a:rPr lang="en-US" sz="2400">
                <a:ea typeface="Calibri"/>
                <a:cs typeface="Calibri"/>
              </a:rPr>
              <a:t> folder with the name &lt;process.name&gt;.txt.</a:t>
            </a: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400">
                <a:ea typeface="Calibri"/>
                <a:cs typeface="Calibri"/>
              </a:rPr>
              <a:t>If no process is found in the memory that can be stored in the backing store, the function exits.</a:t>
            </a: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400">
                <a:ea typeface="Calibri"/>
                <a:cs typeface="Calibri"/>
              </a:rPr>
              <a:t>The </a:t>
            </a:r>
            <a:r>
              <a:rPr lang="en-US" sz="2400" err="1">
                <a:ea typeface="Calibri"/>
                <a:cs typeface="Calibri"/>
              </a:rPr>
              <a:t>checkBackingStore</a:t>
            </a:r>
            <a:r>
              <a:rPr lang="en-US" sz="2400">
                <a:ea typeface="Calibri"/>
                <a:cs typeface="Calibri"/>
              </a:rPr>
              <a:t>() method is for checking if the process has been stored in the backing store. If there is a record, it deletes it from the backing store. This method is called by the allocate() method.</a:t>
            </a:r>
          </a:p>
          <a:p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54A4A-DC76-2B7D-88ED-97334DF1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 descr="A computer screen with text and images&#10;&#10;Description automatically generated">
            <a:extLst>
              <a:ext uri="{FF2B5EF4-FFF2-40B4-BE49-F238E27FC236}">
                <a16:creationId xmlns:a16="http://schemas.microsoft.com/office/drawing/2014/main" id="{43076B5C-B588-CA8F-F208-69135AE1B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486" y="111277"/>
            <a:ext cx="4673600" cy="1507067"/>
          </a:xfrm>
          <a:prstGeom prst="rect">
            <a:avLst/>
          </a:prstGeom>
        </p:spPr>
      </p:pic>
      <p:pic>
        <p:nvPicPr>
          <p:cNvPr id="7" name="Picture 6" descr="A computer code with green and blue text&#10;&#10;Description automatically generated">
            <a:extLst>
              <a:ext uri="{FF2B5EF4-FFF2-40B4-BE49-F238E27FC236}">
                <a16:creationId xmlns:a16="http://schemas.microsoft.com/office/drawing/2014/main" id="{D76EA293-0906-131E-2435-BA406D101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421" y="1671183"/>
            <a:ext cx="4357159" cy="1326395"/>
          </a:xfrm>
          <a:prstGeom prst="rect">
            <a:avLst/>
          </a:prstGeom>
        </p:spPr>
      </p:pic>
      <p:pic>
        <p:nvPicPr>
          <p:cNvPr id="9" name="Picture 8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5D4FD45D-512A-7A8B-B3AB-C5140AE8D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29" y="3004457"/>
            <a:ext cx="3938135" cy="334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91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B55FC-6F6A-D6C5-9BC1-8B69DDC8F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7B81F-926C-4531-9A8D-9595537A5B9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/>
              <a:t>Memory management – flat memory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8CCA61-BD16-E724-B670-C2320123D54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089" y="868363"/>
            <a:ext cx="6341028" cy="5137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Calibri"/>
                <a:cs typeface="Calibri"/>
              </a:rPr>
              <a:t>In the flat memory management , the main memory is segmented into "blocks" wherein </a:t>
            </a:r>
            <a:r>
              <a:rPr lang="en-US" sz="2200" err="1">
                <a:ea typeface="Calibri"/>
                <a:cs typeface="Calibri"/>
              </a:rPr>
              <a:t>mem_per_block</a:t>
            </a:r>
            <a:r>
              <a:rPr lang="en-US" sz="2200">
                <a:ea typeface="Calibri"/>
                <a:cs typeface="Calibri"/>
              </a:rPr>
              <a:t> is equal to 1 by default.</a:t>
            </a:r>
          </a:p>
          <a:p>
            <a:r>
              <a:rPr lang="en-US" sz="2200">
                <a:ea typeface="Calibri"/>
                <a:cs typeface="Calibri"/>
              </a:rPr>
              <a:t>All of the methods in the flat memory are almost the same as the implementation with the paging allocator. The only difference is that the memory per block is 1 to signify that the the memory is one single contiguous block.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BC5CA-4E22-2C26-D7CD-4993B95C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886BB1F3-C95D-0B06-24F1-1251C715B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432" y="869646"/>
            <a:ext cx="5010150" cy="1047750"/>
          </a:xfrm>
          <a:prstGeom prst="rect">
            <a:avLst/>
          </a:prstGeom>
        </p:spPr>
      </p:pic>
      <p:pic>
        <p:nvPicPr>
          <p:cNvPr id="6" name="Picture 5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101D4D78-8CDB-4852-9B1E-DD464B7F8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701" y="2102285"/>
            <a:ext cx="470961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71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353A4-95E0-46A3-BF0C-110F7F779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87" y="286603"/>
            <a:ext cx="10185583" cy="1450757"/>
          </a:xfrm>
        </p:spPr>
        <p:txBody>
          <a:bodyPr/>
          <a:lstStyle/>
          <a:p>
            <a:r>
              <a:rPr lang="en-US"/>
              <a:t>End of slides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777F8A-7AF8-41C2-B52F-AB8A69AC7CEB}"/>
              </a:ext>
            </a:extLst>
          </p:cNvPr>
          <p:cNvSpPr txBox="1">
            <a:spLocks/>
          </p:cNvSpPr>
          <p:nvPr/>
        </p:nvSpPr>
        <p:spPr>
          <a:xfrm>
            <a:off x="541538" y="2112886"/>
            <a:ext cx="10520039" cy="4057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en-US" sz="320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BD616D-620C-FD60-DA89-C1ED30E8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17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7B759DABC9D140A9A73CEB9433B1D8" ma:contentTypeVersion="11" ma:contentTypeDescription="Create a new document." ma:contentTypeScope="" ma:versionID="1e2e93c228ecaa72372f8494a2b8deb7">
  <xsd:schema xmlns:xsd="http://www.w3.org/2001/XMLSchema" xmlns:xs="http://www.w3.org/2001/XMLSchema" xmlns:p="http://schemas.microsoft.com/office/2006/metadata/properties" xmlns:ns3="970d745f-bebc-4faa-ac0a-ef6049a1141c" targetNamespace="http://schemas.microsoft.com/office/2006/metadata/properties" ma:root="true" ma:fieldsID="48ecf2fa9f223b06f84b9533c10b307a" ns3:_="">
    <xsd:import namespace="970d745f-bebc-4faa-ac0a-ef6049a1141c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d745f-bebc-4faa-ac0a-ef6049a1141c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70d745f-bebc-4faa-ac0a-ef6049a1141c" xsi:nil="true"/>
  </documentManagement>
</p:properties>
</file>

<file path=customXml/itemProps1.xml><?xml version="1.0" encoding="utf-8"?>
<ds:datastoreItem xmlns:ds="http://schemas.openxmlformats.org/officeDocument/2006/customXml" ds:itemID="{DCD3BFAF-1453-4483-9B96-144C947194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C12C5A-1C08-4296-906E-BDB790F7EA69}">
  <ds:schemaRefs>
    <ds:schemaRef ds:uri="970d745f-bebc-4faa-ac0a-ef6049a114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3DC3CC4-67DD-460D-B979-B451C7752C10}">
  <ds:schemaRefs>
    <ds:schemaRef ds:uri="970d745f-bebc-4faa-ac0a-ef6049a1141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CSOPSEY MO2</vt:lpstr>
      <vt:lpstr>Command Recognition</vt:lpstr>
      <vt:lpstr>Command Recognition</vt:lpstr>
      <vt:lpstr>Command Recognition</vt:lpstr>
      <vt:lpstr>Process Representation</vt:lpstr>
      <vt:lpstr>Process Representation</vt:lpstr>
      <vt:lpstr>Scheduler Implementation</vt:lpstr>
      <vt:lpstr>Scheduler Implementation</vt:lpstr>
      <vt:lpstr>Scheduler Implementation</vt:lpstr>
      <vt:lpstr>Scheduler Implementation</vt:lpstr>
      <vt:lpstr>Scheduler Implementation</vt:lpstr>
      <vt:lpstr>Scheduler Implementation</vt:lpstr>
      <vt:lpstr>Scheduler Implementation</vt:lpstr>
      <vt:lpstr>Scheduler Implementation</vt:lpstr>
      <vt:lpstr>Memory management – paging</vt:lpstr>
      <vt:lpstr>Memory management – paging</vt:lpstr>
      <vt:lpstr>Memory management – flat memory</vt:lpstr>
      <vt:lpstr>End of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 DG</dc:creator>
  <cp:revision>2</cp:revision>
  <dcterms:created xsi:type="dcterms:W3CDTF">2017-05-13T09:24:58Z</dcterms:created>
  <dcterms:modified xsi:type="dcterms:W3CDTF">2024-11-29T14:04:42Z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0x010100AB7B759DABC9D140A9A73CEB9433B1D8</vt:lpwstr>
  </property>
</Properties>
</file>